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20"/>
  </p:notesMasterIdLst>
  <p:handoutMasterIdLst>
    <p:handoutMasterId r:id="rId21"/>
  </p:handoutMasterIdLst>
  <p:sldIdLst>
    <p:sldId id="258" r:id="rId2"/>
    <p:sldId id="348" r:id="rId3"/>
    <p:sldId id="503" r:id="rId4"/>
    <p:sldId id="460" r:id="rId5"/>
    <p:sldId id="462" r:id="rId6"/>
    <p:sldId id="471" r:id="rId7"/>
    <p:sldId id="463" r:id="rId8"/>
    <p:sldId id="465" r:id="rId9"/>
    <p:sldId id="466" r:id="rId10"/>
    <p:sldId id="457" r:id="rId11"/>
    <p:sldId id="480" r:id="rId12"/>
    <p:sldId id="504" r:id="rId13"/>
    <p:sldId id="505" r:id="rId14"/>
    <p:sldId id="507" r:id="rId15"/>
    <p:sldId id="508" r:id="rId16"/>
    <p:sldId id="509" r:id="rId17"/>
    <p:sldId id="469" r:id="rId18"/>
    <p:sldId id="482" r:id="rId19"/>
  </p:sldIdLst>
  <p:sldSz cx="9144000" cy="5143500" type="screen16x9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A50021"/>
    <a:srgbClr val="66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130" autoAdjust="0"/>
    <p:restoredTop sz="87621" autoAdjust="0"/>
  </p:normalViewPr>
  <p:slideViewPr>
    <p:cSldViewPr>
      <p:cViewPr varScale="1">
        <p:scale>
          <a:sx n="109" d="100"/>
          <a:sy n="109" d="100"/>
        </p:scale>
        <p:origin x="1219" y="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5992480C-EBA7-43F4-964F-FAA33021FB29}" type="datetimeFigureOut">
              <a:rPr lang="en-US"/>
              <a:pPr>
                <a:defRPr/>
              </a:pPr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BE4F915E-2204-407D-8C03-DB2FD3F320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4588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AC905D66-137F-4149-9A69-D18FB2672927}" type="datetimeFigureOut">
              <a:rPr lang="en-US"/>
              <a:pPr>
                <a:defRPr/>
              </a:pPr>
              <a:t>6/8/2026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2987CD62-CC44-4E5E-809F-2C6BC45B7F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2750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C382C80-49DE-4A1A-9A9D-C688FCDA9F33}" type="slidenum">
              <a:rPr lang="en-US" altLang="en-US" smtClean="0">
                <a:latin typeface="Calibri" pitchFamily="34" charset="0"/>
              </a:rPr>
              <a:pPr/>
              <a:t>1</a:t>
            </a:fld>
            <a:endParaRPr lang="en-US" altLang="en-US" dirty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3851275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3846513"/>
            <a:ext cx="9144000" cy="333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16886"/>
            <a:ext cx="8077200" cy="1255014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8077200" cy="1124712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8EBB-2042-4700-BB59-3099B779D200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18A521C-E176-4212-BDB1-5752C3DC9F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807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0DC96-9F92-45FC-823B-6D6D1E0FCA3B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DA7644-41ED-4D8E-81F6-D8CC01AD00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05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1952625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1952625"/>
            <a:ext cx="9144000" cy="333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89154"/>
            <a:ext cx="8013192" cy="1227582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371600"/>
            <a:ext cx="8022336" cy="51435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66FCE-F742-4529-96F6-75B5A51B92C9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7A187C-73ED-4AB8-AEF7-6D7406460A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4804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0452"/>
            <a:ext cx="4038600" cy="346786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0452"/>
            <a:ext cx="4038600" cy="3467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12FA-4ACB-401F-B052-869F0EEF95E4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DF18C-48F2-423E-B7AA-66038BDB1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21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4241"/>
            <a:ext cx="4040188" cy="536516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37134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4241"/>
            <a:ext cx="4041775" cy="536516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37134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9DF32-FB6B-4FAA-B972-40228FACF041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63D13-4382-4E93-AA0D-CF27C57567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63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2441C-B24E-4F8C-8FF2-E640977BEA4E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A29B2-FF48-4B46-814D-33B95CC4B4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47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4747A4-2A98-44D1-AABB-1201E68B8122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E2D586-275F-4401-94F8-D273EE9AD3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949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3" y="0"/>
            <a:ext cx="46037" cy="1090613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1090613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14300"/>
            <a:ext cx="2523744" cy="733806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8" y="1307350"/>
            <a:ext cx="5920641" cy="34191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297514"/>
            <a:ext cx="2468880" cy="3429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2CE56-F759-4E29-85BB-33A7DE675CD4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6C8BD-FD30-4A61-BCFD-06F81E104B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51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3" y="0"/>
            <a:ext cx="46037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16586"/>
            <a:ext cx="2525150" cy="733806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6" y="1113606"/>
            <a:ext cx="6247397" cy="4029894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296162"/>
            <a:ext cx="2468880" cy="3429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877888"/>
            <a:ext cx="2522538" cy="150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2CA26-9A30-4730-AB42-35F7A93B573D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0" y="877888"/>
            <a:ext cx="5194300" cy="1508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877888"/>
            <a:ext cx="733425" cy="150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99F53-B4E5-43BE-B9E8-D3F01035D8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567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0375B-EAAD-4055-97C2-E513685F4301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019DE-8058-4722-868E-C0569A897F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71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38" y="0"/>
            <a:ext cx="46037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51435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05980"/>
            <a:ext cx="19050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8E05C-AFEE-497C-97AC-8DE0C17B5577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4783138"/>
            <a:ext cx="3836987" cy="2730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ADBDF-905A-4196-9048-930F82A14F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80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076325"/>
            <a:ext cx="9144000" cy="34925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4000" cy="1074738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938213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31913"/>
            <a:ext cx="8229600" cy="346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57750"/>
            <a:ext cx="2133600" cy="206375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A6E7E-9BD0-4902-A82B-928CD27D4424}" type="datetime3">
              <a:rPr lang="en-US"/>
              <a:pPr>
                <a:defRPr/>
              </a:pPr>
              <a:t>8 June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3" y="4857750"/>
            <a:ext cx="5508625" cy="206375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r>
              <a:rPr lang="en-IN"/>
              <a:t>INTERVIEW FOR Ph.D. ADMISSION FOR JULY 2020 SESSION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0" y="4857750"/>
            <a:ext cx="733425" cy="206375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3F3F3F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C813A19-5DC0-4FAA-8822-A65C49995D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4" r:id="rId1"/>
    <p:sldLayoutId id="2147484419" r:id="rId2"/>
    <p:sldLayoutId id="2147484425" r:id="rId3"/>
    <p:sldLayoutId id="2147484420" r:id="rId4"/>
    <p:sldLayoutId id="2147484421" r:id="rId5"/>
    <p:sldLayoutId id="2147484422" r:id="rId6"/>
    <p:sldLayoutId id="2147484426" r:id="rId7"/>
    <p:sldLayoutId id="2147484427" r:id="rId8"/>
    <p:sldLayoutId id="2147484428" r:id="rId9"/>
    <p:sldLayoutId id="2147484423" r:id="rId10"/>
    <p:sldLayoutId id="214748442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rgbClr val="E66C7D"/>
        </a:buClr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eaLnBrk="0" fontAlgn="base" hangingPunct="0">
        <a:spcBef>
          <a:spcPct val="20000"/>
        </a:spcBef>
        <a:spcAft>
          <a:spcPct val="0"/>
        </a:spcAft>
        <a:buClr>
          <a:srgbClr val="6BB76D"/>
        </a:buClr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eaLnBrk="0" fontAlgn="base" hangingPunct="0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/>
          </p:cNvSpPr>
          <p:nvPr>
            <p:ph type="title"/>
          </p:nvPr>
        </p:nvSpPr>
        <p:spPr>
          <a:xfrm>
            <a:off x="0" y="114300"/>
            <a:ext cx="8991600" cy="93345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accent1"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title</a:t>
            </a:r>
          </a:p>
        </p:txBody>
      </p:sp>
      <p:sp>
        <p:nvSpPr>
          <p:cNvPr id="9219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229600" y="4937125"/>
            <a:ext cx="733425" cy="20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lnSpc>
                <a:spcPct val="90000"/>
              </a:lnSpc>
            </a:pPr>
            <a:fld id="{0FE3E543-1B0D-46E6-B3F8-8AADF9CA1860}" type="slidenum">
              <a:rPr lang="en-US" altLang="en-US" sz="1100" smtClean="0">
                <a:solidFill>
                  <a:srgbClr val="3F3F3F"/>
                </a:solidFill>
              </a:rPr>
              <a:pPr>
                <a:lnSpc>
                  <a:spcPct val="90000"/>
                </a:lnSpc>
              </a:pPr>
              <a:t>1</a:t>
            </a:fld>
            <a:endParaRPr lang="en-US" altLang="en-US" sz="1100" dirty="0">
              <a:solidFill>
                <a:srgbClr val="3F3F3F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276600" y="4857750"/>
            <a:ext cx="3227387" cy="285750"/>
          </a:xfrm>
        </p:spPr>
        <p:txBody>
          <a:bodyPr/>
          <a:lstStyle/>
          <a:p>
            <a:pPr>
              <a:defRPr/>
            </a:pPr>
            <a:r>
              <a:rPr lang="en-IN" dirty="0"/>
              <a:t>Mini Project</a:t>
            </a:r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571500" y="1428749"/>
            <a:ext cx="8001000" cy="336097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9144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438150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  <a:p>
            <a:pPr marL="438150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POSTURE DETECTION WITH VIBROTACTILE FEEDBACK</a:t>
            </a:r>
          </a:p>
          <a:p>
            <a:pPr marL="438150" marR="0" lvl="0" indent="-319088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0" lvl="0" indent="-319088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0" lvl="0" indent="-319088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0" lvl="0" indent="-319088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                                                                SUBMITTED BY</a:t>
            </a:r>
          </a:p>
          <a:p>
            <a:pPr marL="438150" marR="0" lvl="0" indent="-319088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. RAJALAKSHMI                                                                   KAVIYA S                - 113123UG01024</a:t>
            </a:r>
          </a:p>
          <a:p>
            <a:pPr marL="438150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                                                       POOVIZHI  K              - 113123UG01041</a:t>
            </a:r>
          </a:p>
          <a:p>
            <a:pPr marL="438150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KAVYA KAMATCHI V     - 113123UG01025</a:t>
            </a:r>
          </a:p>
          <a:p>
            <a:pPr marL="438150" marR="0" lvl="0" indent="-319088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marR="0" lvl="0" indent="-319088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933950"/>
            <a:ext cx="1066800" cy="209550"/>
          </a:xfrm>
        </p:spPr>
        <p:txBody>
          <a:bodyPr/>
          <a:lstStyle/>
          <a:p>
            <a:pPr>
              <a:defRPr/>
            </a:pPr>
            <a:r>
              <a:rPr lang="en-US" dirty="0"/>
              <a:t>09-06-2026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F8AF0-EA7A-06D9-BA48-EE0BA86A6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4" y="-19050"/>
            <a:ext cx="9144000" cy="1020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Aim</a:t>
            </a:r>
          </a:p>
        </p:txBody>
      </p:sp>
      <p:sp>
        <p:nvSpPr>
          <p:cNvPr id="13315" name="Rectangle 3"/>
          <p:cNvSpPr>
            <a:spLocks noGrp="1"/>
          </p:cNvSpPr>
          <p:nvPr>
            <p:ph type="body" idx="1"/>
          </p:nvPr>
        </p:nvSpPr>
        <p:spPr>
          <a:xfrm>
            <a:off x="228600" y="1200150"/>
            <a:ext cx="8534400" cy="3581400"/>
          </a:xfrm>
        </p:spPr>
        <p:txBody>
          <a:bodyPr/>
          <a:lstStyle/>
          <a:p>
            <a:pPr algn="just"/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design a wearable posture monitoring system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detect spine bending using sensors 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provide real-time vibrotactile feedback 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help users maintain correct posture.</a:t>
            </a:r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95D58D4-D7D7-44FA-BE6F-ABE3CCF00844}" type="slidenum">
              <a:rPr lang="en-US" altLang="en-US" smtClean="0">
                <a:solidFill>
                  <a:srgbClr val="3F3F3F"/>
                </a:solidFill>
              </a:rPr>
              <a:pPr/>
              <a:t>2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D9C7F25-DF32-0CEB-42D0-8ED7685F1868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CD77B-3D76-CAA4-100F-BFAFFC82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8E20E23-26C4-7C6D-C4A6-606ED7B37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645E38-ED26-A789-F96C-A2218A4AF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200150"/>
            <a:ext cx="8534400" cy="3581400"/>
          </a:xfrm>
        </p:spPr>
        <p:txBody>
          <a:bodyPr/>
          <a:lstStyle/>
          <a:p>
            <a:pPr algn="just"/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measure body tilt using MPU6050 sensor 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calculate spine bending angle 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set a threshold limit for posture 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alert user using vibration motor 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indicate posture status using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LCD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develop a low-cost embedded system</a:t>
            </a:r>
          </a:p>
        </p:txBody>
      </p:sp>
      <p:sp>
        <p:nvSpPr>
          <p:cNvPr id="13317" name="Slide Number Placeholder 3">
            <a:extLst>
              <a:ext uri="{FF2B5EF4-FFF2-40B4-BE49-F238E27FC236}">
                <a16:creationId xmlns:a16="http://schemas.microsoft.com/office/drawing/2014/main" id="{56B9C40C-ECCE-ED2F-62EC-2196C2E6CE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95D58D4-D7D7-44FA-BE6F-ABE3CCF00844}" type="slidenum">
              <a:rPr lang="en-US" altLang="en-US" smtClean="0">
                <a:solidFill>
                  <a:srgbClr val="3F3F3F"/>
                </a:solidFill>
              </a:rPr>
              <a:pPr/>
              <a:t>3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C328245-1A4D-7949-B0D9-9E1796BEFA26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62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Scope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457200" y="1331913"/>
            <a:ext cx="8382000" cy="3468687"/>
          </a:xfrm>
        </p:spPr>
        <p:txBody>
          <a:bodyPr/>
          <a:lstStyle/>
          <a:p>
            <a:pPr lvl="0" algn="just"/>
            <a:endParaRPr lang="en-US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Can be used by students and office workers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Helps prevent back pain and posture-related problems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Useful in physiotherapy and rehabilitation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Can be upgraded with mobile app integration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Can be used in smart wearable devices</a:t>
            </a:r>
          </a:p>
        </p:txBody>
      </p:sp>
      <p:sp>
        <p:nvSpPr>
          <p:cNvPr id="1434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188B2CA3-B1BB-4122-8695-F5103067DE15}" type="slidenum">
              <a:rPr lang="en-US" altLang="en-US" smtClean="0">
                <a:solidFill>
                  <a:srgbClr val="3F3F3F"/>
                </a:solidFill>
              </a:rPr>
              <a:pPr/>
              <a:t>4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E07044D-1DE9-E16A-4DEF-F0A9F10EFB8F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30000"/>
              </a:spcBef>
              <a:spcAft>
                <a:spcPct val="30000"/>
              </a:spcAft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INTERVIEW FOR Ph.D. ADMISSION FOR JULY 2021 SESSION</a:t>
            </a:r>
            <a:endParaRPr lang="en-US" dirty="0"/>
          </a:p>
        </p:txBody>
      </p:sp>
      <p:sp>
        <p:nvSpPr>
          <p:cNvPr id="15365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CBC9861-A18A-4160-B3CB-805ED857F4EA}" type="slidenum">
              <a:rPr lang="en-US" altLang="en-US" smtClean="0">
                <a:solidFill>
                  <a:srgbClr val="3F3F3F"/>
                </a:solidFill>
              </a:rPr>
              <a:pPr/>
              <a:t>5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855924"/>
              </p:ext>
            </p:extLst>
          </p:nvPr>
        </p:nvGraphicFramePr>
        <p:xfrm>
          <a:off x="0" y="990600"/>
          <a:ext cx="9144000" cy="4198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7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183">
                <a:tc>
                  <a:txBody>
                    <a:bodyPr/>
                    <a:lstStyle/>
                    <a:p>
                      <a:pPr marL="90488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S. No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746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SOURCE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6826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PURPOSE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6826" marB="0" anchor="ctr" horzOverflow="overflow"/>
                </a:tc>
                <a:tc>
                  <a:txBody>
                    <a:bodyPr/>
                    <a:lstStyle/>
                    <a:p>
                      <a:pPr marL="793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RESULT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6826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787">
                <a:tc>
                  <a:txBody>
                    <a:bodyPr/>
                    <a:lstStyle/>
                    <a:p>
                      <a:pPr algn="just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just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Wearable Real-Time Intelligent Posture Corrective System Using Vibrotactile Feedback (2011)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Real-time posture monitoring and correction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Vibration alerts Improved posture through vibration alert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4787">
                <a:tc>
                  <a:txBody>
                    <a:bodyPr/>
                    <a:lstStyle/>
                    <a:p>
                      <a:pPr algn="just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just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Intelligent Vibrotactile Biofeedback System (2012)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Posture correction on un-stable surface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Better balance and posture control achieved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268">
                <a:tc>
                  <a:txBody>
                    <a:bodyPr/>
                    <a:lstStyle/>
                    <a:p>
                      <a:pPr algn="just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just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Wearable Posture Monitoring System with Vibration Feedback (2018)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Continuous posture tracking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Real-time detection and correction possible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69189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Literature</a:t>
            </a:r>
            <a:r>
              <a:rPr lang="en-US" altLang="en-US" dirty="0">
                <a:solidFill>
                  <a:srgbClr val="FFC000"/>
                </a:solidFill>
              </a:rPr>
              <a:t> </a:t>
            </a: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Review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30000"/>
              </a:spcBef>
              <a:spcAft>
                <a:spcPct val="30000"/>
              </a:spcAft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INTERVIEW FOR Ph.D. ADMISSION FOR JULY 2021 SESSION</a:t>
            </a:r>
            <a:endParaRPr lang="en-US" dirty="0"/>
          </a:p>
        </p:txBody>
      </p:sp>
      <p:sp>
        <p:nvSpPr>
          <p:cNvPr id="15365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CBC9861-A18A-4160-B3CB-805ED857F4EA}" type="slidenum">
              <a:rPr lang="en-US" altLang="en-US" smtClean="0">
                <a:solidFill>
                  <a:srgbClr val="3F3F3F"/>
                </a:solidFill>
              </a:rPr>
              <a:pPr/>
              <a:t>6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882650"/>
              </p:ext>
            </p:extLst>
          </p:nvPr>
        </p:nvGraphicFramePr>
        <p:xfrm>
          <a:off x="0" y="971550"/>
          <a:ext cx="9144000" cy="4450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6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482">
                <a:tc>
                  <a:txBody>
                    <a:bodyPr/>
                    <a:lstStyle/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S. No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7461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SOURCE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6826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PURPOSE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6826" marB="0" anchor="ctr" horzOverflow="overflow"/>
                </a:tc>
                <a:tc>
                  <a:txBody>
                    <a:bodyPr/>
                    <a:lstStyle/>
                    <a:p>
                      <a:pPr marL="793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RESULT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</a:txBody>
                  <a:tcPr marL="0" marR="0" marT="36826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562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Reducing Postural Load in Order Picking Through a Smart Workwear System Using RealTime Vibrotactile Feedback (2020)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Improve worker posture during industrial tasks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Reduced adverse trunk and upper arm postures; users found the system comfortable and effective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619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Real-Time Human Posture Recognition Using Inertial Sensors (2017)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Detect body orientation and posture changes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High recognition accuracy with low computational cost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85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Posture Monitoring System Using MPU6050 and Arduino (2021)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Low-cost posture correction device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Accurate detection of forward bending posture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89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Summary of Literature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00450"/>
          </a:xfrm>
        </p:spPr>
        <p:txBody>
          <a:bodyPr/>
          <a:lstStyle/>
          <a:p>
            <a:pPr algn="just"/>
            <a:endParaRPr lang="en-US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systems focus on monitoring posture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Many systems are expensive or complex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feedback is limited in some designs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Need for affordable and wearable solution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system provides simple and effective feedback</a:t>
            </a:r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2BB7A1B-3DEB-4E3F-89C6-44C6240025E0}" type="slidenum">
              <a:rPr lang="en-US" altLang="en-US" smtClean="0">
                <a:solidFill>
                  <a:srgbClr val="3F3F3F"/>
                </a:solidFill>
              </a:rPr>
              <a:pPr/>
              <a:t>7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89054A-E57D-4F25-795C-BEF8309352F7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400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altLang="en-US" sz="3200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9062" indent="0" algn="just">
              <a:buNone/>
            </a:pPr>
            <a:endParaRPr lang="en-US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 (Step 1) 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MPU6050 sensor placed on lower back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Sensor measures acceleration values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 sent to Arduino using I2C communication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Arduino processes the sensor data</a:t>
            </a:r>
          </a:p>
        </p:txBody>
      </p:sp>
      <p:sp>
        <p:nvSpPr>
          <p:cNvPr id="1843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C4E67AFE-EE0B-4B6E-ACB0-895C1F8BD494}" type="slidenum">
              <a:rPr lang="en-US" altLang="en-US" smtClean="0">
                <a:solidFill>
                  <a:srgbClr val="3F3F3F"/>
                </a:solidFill>
              </a:rPr>
              <a:pPr/>
              <a:t>8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79A9F27-6B0B-9BC4-FFBE-1B5C51E823DB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3954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8229600" cy="3600450"/>
          </a:xfrm>
        </p:spPr>
        <p:txBody>
          <a:bodyPr/>
          <a:lstStyle/>
          <a:p>
            <a:pPr marL="119062" indent="0" algn="just">
              <a:buNone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Methodology (Step 2) :</a:t>
            </a:r>
          </a:p>
          <a:p>
            <a:pPr algn="just"/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Angle calculated from sensor values </a:t>
            </a:r>
          </a:p>
          <a:p>
            <a:pPr algn="just"/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Compared with predefined threshold </a:t>
            </a:r>
          </a:p>
          <a:p>
            <a:pPr algn="just"/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If angle exceeds limit: </a:t>
            </a:r>
          </a:p>
          <a:p>
            <a:pPr lvl="1" algn="just"/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Vibration motor activated </a:t>
            </a:r>
          </a:p>
          <a:p>
            <a:pPr lvl="1" algn="just"/>
            <a:r>
              <a:rPr lang="en-IN" altLang="en-US" sz="2000" dirty="0">
                <a:latin typeface="Times New Roman" pitchFamily="18" charset="0"/>
                <a:cs typeface="Times New Roman" pitchFamily="18" charset="0"/>
              </a:rPr>
              <a:t>Buzzer and LCD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turns ON </a:t>
            </a:r>
          </a:p>
          <a:p>
            <a:pPr algn="just"/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If posture is correct: </a:t>
            </a:r>
          </a:p>
          <a:p>
            <a:pPr lvl="1" algn="just"/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Motor OFF </a:t>
            </a:r>
          </a:p>
          <a:p>
            <a:pPr lvl="1" algn="just"/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Buzzer and L</a:t>
            </a:r>
            <a:r>
              <a:rPr lang="en-IN" altLang="en-US" sz="2000" dirty="0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OFF</a:t>
            </a:r>
          </a:p>
          <a:p>
            <a:pPr marL="119062" indent="0" algn="just">
              <a:buNone/>
            </a:pPr>
            <a:endParaRPr lang="en-US" altLang="en-US" sz="16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0E5F4EE9-0A19-489E-A6F9-C58C41478EF2}" type="slidenum">
              <a:rPr lang="en-US" altLang="en-US" smtClean="0">
                <a:solidFill>
                  <a:srgbClr val="3F3F3F"/>
                </a:solidFill>
              </a:rPr>
              <a:pPr/>
              <a:t>9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189E9DA-032A-A284-A5CF-E8B237C55BF8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Novelty in Research Proposal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457200" y="1331913"/>
            <a:ext cx="8382000" cy="3468687"/>
          </a:xfrm>
        </p:spPr>
        <p:txBody>
          <a:bodyPr/>
          <a:lstStyle/>
          <a:p>
            <a:pPr lvl="0" algn="just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Introduces a real-time posture correction system using vibrotactile feedback </a:t>
            </a: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Combines MPU6050 sensor with a simple embedded controller for accurate angle detection </a:t>
            </a: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instant vibration alert instead of only monitoring (active correction approach) </a:t>
            </a: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Designed as a low-cost and portable wearable device </a:t>
            </a: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Uses threshold-based intelligent feedback mechanism </a:t>
            </a:r>
          </a:p>
          <a:p>
            <a:pPr lvl="0" algn="just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Simple design compared to complex IoT or camera-based systems</a:t>
            </a:r>
          </a:p>
        </p:txBody>
      </p:sp>
      <p:sp>
        <p:nvSpPr>
          <p:cNvPr id="21509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6437688-45ED-4D9A-AF3D-29A65DE586B1}" type="slidenum">
              <a:rPr lang="en-US" altLang="en-US" smtClean="0">
                <a:solidFill>
                  <a:srgbClr val="3F3F3F"/>
                </a:solidFill>
              </a:rPr>
              <a:pPr/>
              <a:t>10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4C3DD76-4BAE-E440-7E0B-7616A4CFC3FB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53400" y="4937125"/>
            <a:ext cx="733425" cy="20637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11</a:t>
            </a:r>
          </a:p>
        </p:txBody>
      </p:sp>
      <p:sp>
        <p:nvSpPr>
          <p:cNvPr id="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Block Diagram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F70FBD4-C1E5-95AD-A8EB-3332E5D00361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26DDB-B6A8-24A4-0F07-F7E5D2297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00150"/>
            <a:ext cx="771525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8279-97CC-6AD2-4A06-88572AB02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541A0-9400-DED5-0177-341334F5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4937125"/>
            <a:ext cx="733425" cy="206375"/>
          </a:xfrm>
        </p:spPr>
        <p:txBody>
          <a:bodyPr/>
          <a:lstStyle/>
          <a:p>
            <a:pPr>
              <a:defRPr/>
            </a:pPr>
            <a:fld id="{55DA7644-41ED-4D8E-81F6-D8CC01AD009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7563DE59-BB83-0A10-A958-C2B168AD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Block Diagram Explanation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441CE85-E0AD-A9C7-6D04-08BD27008EA7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F0005-B4C6-6D4D-D4D3-82AC3FDE305E}"/>
              </a:ext>
            </a:extLst>
          </p:cNvPr>
          <p:cNvSpPr txBox="1"/>
          <p:nvPr/>
        </p:nvSpPr>
        <p:spPr>
          <a:xfrm>
            <a:off x="457200" y="1536911"/>
            <a:ext cx="838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detects body movement and tilt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receives and processes data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is calculated using formula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threshold value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posture is incorrect: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vibrates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gets ON and 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“Posture Incorrect”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feedback to use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B97A-6EBD-8459-12A0-0C06D6DF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02802-F4B7-028A-5FBC-7A930857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4937125"/>
            <a:ext cx="733425" cy="206375"/>
          </a:xfrm>
        </p:spPr>
        <p:txBody>
          <a:bodyPr/>
          <a:lstStyle/>
          <a:p>
            <a:pPr>
              <a:defRPr/>
            </a:pPr>
            <a:fld id="{55DA7644-41ED-4D8E-81F6-D8CC01AD009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A7631E81-6C7C-3DD4-3AE4-A10FE6F1B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Result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CAF896-81BD-23B9-481A-47D99338CCAF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BFB71-50A3-2F54-29E9-4C5201E100D1}"/>
              </a:ext>
            </a:extLst>
          </p:cNvPr>
          <p:cNvSpPr txBox="1"/>
          <p:nvPr/>
        </p:nvSpPr>
        <p:spPr>
          <a:xfrm>
            <a:off x="304800" y="1407736"/>
            <a:ext cx="8382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detects posture accurately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achieved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feedback works properly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indication is clear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responds quickly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➢Correct posture → No vibration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➢Incorrect posture → Immediate alert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➢Stable performance during testing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➢Works continuously without delay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11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E1100-A0AD-E98D-1A53-8537A65F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3ED70-E5EF-4F02-2F42-4603299A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4937125"/>
            <a:ext cx="733425" cy="206375"/>
          </a:xfrm>
        </p:spPr>
        <p:txBody>
          <a:bodyPr/>
          <a:lstStyle/>
          <a:p>
            <a:pPr>
              <a:defRPr/>
            </a:pPr>
            <a:fld id="{55DA7644-41ED-4D8E-81F6-D8CC01AD009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F7A063E5-5D3A-50C8-E8E4-4ECB4B283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Discussion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5B5AA2B-7B77-E172-6DC5-A6E32920D185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FBDC5-FF23-3CD3-8C17-A213C3E0ED22}"/>
              </a:ext>
            </a:extLst>
          </p:cNvPr>
          <p:cNvSpPr txBox="1"/>
          <p:nvPr/>
        </p:nvSpPr>
        <p:spPr>
          <a:xfrm>
            <a:off x="420858" y="1602254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simple and efficient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sensor placement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value can be adjusted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daily posture correction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425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00D11-B730-67E0-2DE4-0B0146A5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27AFE-89E2-5BCA-EC88-F15CEBF3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4937125"/>
            <a:ext cx="733425" cy="206375"/>
          </a:xfrm>
        </p:spPr>
        <p:txBody>
          <a:bodyPr/>
          <a:lstStyle/>
          <a:p>
            <a:pPr>
              <a:defRPr/>
            </a:pPr>
            <a:fld id="{55DA7644-41ED-4D8E-81F6-D8CC01AD009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A2EF83D6-F9D5-E4F2-AE51-48387BC38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E09531-5567-2A64-E1F1-6CC045EE691D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77311-9586-80D3-BD7D-7CD0CF97001E}"/>
              </a:ext>
            </a:extLst>
          </p:cNvPr>
          <p:cNvSpPr txBox="1"/>
          <p:nvPr/>
        </p:nvSpPr>
        <p:spPr>
          <a:xfrm>
            <a:off x="401881" y="1657350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vibrotactile feedback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posture habits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long-term spinal issues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user-friendly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19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31BD-9E20-92E7-26E2-443E59B5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30D18-6BA6-8BF1-2CAD-9BEEF083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4937125"/>
            <a:ext cx="733425" cy="206375"/>
          </a:xfrm>
        </p:spPr>
        <p:txBody>
          <a:bodyPr/>
          <a:lstStyle/>
          <a:p>
            <a:pPr>
              <a:defRPr/>
            </a:pPr>
            <a:fld id="{55DA7644-41ED-4D8E-81F6-D8CC01AD009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8B17ADDD-2F35-86A0-D6BD-294DFD079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Future the Scope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BA77C2D-DE5E-9C2F-70D9-9C04AFFCF153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11DCA-71C9-F2F9-0C45-B51C6F95646A}"/>
              </a:ext>
            </a:extLst>
          </p:cNvPr>
          <p:cNvSpPr txBox="1"/>
          <p:nvPr/>
        </p:nvSpPr>
        <p:spPr>
          <a:xfrm>
            <a:off x="431409" y="1602254"/>
            <a:ext cx="807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mobile application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of AI for posture analysis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Wireless communication (Bluetooth)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Smaller and more compact design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storage and tracking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781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>
          <a:xfrm>
            <a:off x="457200" y="1331913"/>
            <a:ext cx="8382000" cy="3468687"/>
          </a:xfrm>
        </p:spPr>
        <p:txBody>
          <a:bodyPr/>
          <a:lstStyle/>
          <a:p>
            <a:pPr algn="just"/>
            <a:r>
              <a:rPr lang="en-US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Gopalai</a:t>
            </a: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 A., &amp; Senanayake, S. M. N. A., "A Wearable Real-Time Intelligent Posture Corrective System Using Vibrotactile Feedback," IEEE/ASME Transactions on Mechatronics, 2011.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Zheng, Y., &amp; Morrell, J., "A Vibrotactile Feedback Approach to Posture Guidance," IEEE Haptics Symposium, 2010.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Xu, J. et al., "Configurable Wearable Sensing and Vibrotactile Feedback System for Real-Time Postural Balance and Gait Training," JNER, 2017.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Lins, C. et al., "A Wearable Vibrotactile Interface for Unfavorable Posture Awareness Warning," ICT4AWE, 2018.</a:t>
            </a: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Ishac</a:t>
            </a: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K., &amp; Suzuki, K., "</a:t>
            </a:r>
            <a:r>
              <a:rPr lang="en-US" sz="16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LifeChair</a:t>
            </a: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A Conductive Fabric Sensor-Based Smart Cushion for Actively Shaping Sitting Posture," Sensors, 2018.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Kim, W. et al., "A Directional Vibrotactile Feedback Interface for Ergonomic Postural Adjustment," IEEE Transactions on Haptics, 2021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253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153400" y="4781550"/>
            <a:ext cx="733425" cy="20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207F344-288E-49F6-907F-522B32CC11FC}" type="slidenum">
              <a:rPr lang="en-US" altLang="en-US" smtClean="0">
                <a:solidFill>
                  <a:srgbClr val="3F3F3F"/>
                </a:solidFill>
              </a:rPr>
              <a:pPr/>
              <a:t>17</a:t>
            </a:fld>
            <a:endParaRPr lang="en-US" altLang="en-US" dirty="0">
              <a:solidFill>
                <a:srgbClr val="3F3F3F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DB5B798-47C3-4F67-43FD-51987F5E1371}"/>
              </a:ext>
            </a:extLst>
          </p:cNvPr>
          <p:cNvSpPr txBox="1">
            <a:spLocks/>
          </p:cNvSpPr>
          <p:nvPr/>
        </p:nvSpPr>
        <p:spPr>
          <a:xfrm>
            <a:off x="609600" y="4944812"/>
            <a:ext cx="1066800" cy="209550"/>
          </a:xfrm>
          <a:prstGeom prst="rect">
            <a:avLst/>
          </a:prstGeom>
        </p:spPr>
        <p:txBody>
          <a:bodyPr vert="horz" lIns="109728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85730D2-60F8-1E9D-D0F5-B928236C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6600" y="4857750"/>
            <a:ext cx="3227387" cy="28575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sz="7200" b="1" i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Book Antiqua" pitchFamily="18" charset="0"/>
                <a:cs typeface="Times New Roman" pitchFamily="18" charset="0"/>
              </a:rPr>
              <a:t>Thank you</a:t>
            </a:r>
          </a:p>
          <a:p>
            <a:pPr algn="ctr">
              <a:buNone/>
            </a:pPr>
            <a:endParaRPr lang="en-US" sz="7200" b="1" i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Book Antiqua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DA7644-41ED-4D8E-81F6-D8CC01AD009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141</TotalTime>
  <Words>839</Words>
  <Application>Microsoft Office PowerPoint</Application>
  <PresentationFormat>On-screen Show (16:9)</PresentationFormat>
  <Paragraphs>184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Book Antiqua</vt:lpstr>
      <vt:lpstr>Calibri</vt:lpstr>
      <vt:lpstr>Cambria</vt:lpstr>
      <vt:lpstr>Corbel</vt:lpstr>
      <vt:lpstr>Times New Roman</vt:lpstr>
      <vt:lpstr>Wingdings</vt:lpstr>
      <vt:lpstr>Wingdings 2</vt:lpstr>
      <vt:lpstr>Wingdings 3</vt:lpstr>
      <vt:lpstr>Module</vt:lpstr>
      <vt:lpstr>title</vt:lpstr>
      <vt:lpstr>Aim</vt:lpstr>
      <vt:lpstr>Objective</vt:lpstr>
      <vt:lpstr>Scope</vt:lpstr>
      <vt:lpstr>Literature Review</vt:lpstr>
      <vt:lpstr>Literature Review</vt:lpstr>
      <vt:lpstr>Summary of Literature</vt:lpstr>
      <vt:lpstr>Methodology</vt:lpstr>
      <vt:lpstr>Methodology</vt:lpstr>
      <vt:lpstr>Novelty in Research Proposal</vt:lpstr>
      <vt:lpstr>Block Diagram</vt:lpstr>
      <vt:lpstr>Block Diagram Explanation</vt:lpstr>
      <vt:lpstr>Result</vt:lpstr>
      <vt:lpstr>Discussion</vt:lpstr>
      <vt:lpstr>Conclusion</vt:lpstr>
      <vt:lpstr>Future the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CENTRE FOR RESEARCH ANNA UNIVERSITY</dc:title>
  <dc:creator>KAVYA</dc:creator>
  <cp:lastModifiedBy>Kavya Kamatchi</cp:lastModifiedBy>
  <cp:revision>7</cp:revision>
  <dcterms:modified xsi:type="dcterms:W3CDTF">2026-06-08T15:54:54Z</dcterms:modified>
</cp:coreProperties>
</file>